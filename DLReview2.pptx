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530" r:id="rId5"/>
    <p:sldId id="548" r:id="rId6"/>
    <p:sldId id="549" r:id="rId7"/>
    <p:sldId id="550" r:id="rId8"/>
    <p:sldId id="551" r:id="rId9"/>
    <p:sldId id="554" r:id="rId10"/>
    <p:sldId id="555" r:id="rId11"/>
    <p:sldId id="552" r:id="rId12"/>
    <p:sldId id="553" r:id="rId13"/>
    <p:sldId id="54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i Lad" userId="c2995238a12d181f" providerId="LiveId" clId="{1AD51A22-FC53-4675-B156-38FDF82A4BA7}"/>
    <pc:docChg chg="delSld">
      <pc:chgData name="Gauri Lad" userId="c2995238a12d181f" providerId="LiveId" clId="{1AD51A22-FC53-4675-B156-38FDF82A4BA7}" dt="2025-09-15T08:17:45.145" v="0" actId="47"/>
      <pc:docMkLst>
        <pc:docMk/>
      </pc:docMkLst>
      <pc:sldChg chg="del">
        <pc:chgData name="Gauri Lad" userId="c2995238a12d181f" providerId="LiveId" clId="{1AD51A22-FC53-4675-B156-38FDF82A4BA7}" dt="2025-09-15T08:17:45.145" v="0" actId="47"/>
        <pc:sldMkLst>
          <pc:docMk/>
          <pc:sldMk cId="548476299" sldId="534"/>
        </pc:sldMkLst>
      </pc:sldChg>
    </pc:docChg>
  </pc:docChgLst>
  <pc:docChgLst>
    <pc:chgData name="Gauri Lad" userId="c2995238a12d181f" providerId="LiveId" clId="{D86B68B0-6638-4B59-AECC-9D92028E23DC}"/>
    <pc:docChg chg="undo custSel addSld delSld modSld">
      <pc:chgData name="Gauri Lad" userId="c2995238a12d181f" providerId="LiveId" clId="{D86B68B0-6638-4B59-AECC-9D92028E23DC}" dt="2025-08-13T05:53:23.019" v="203" actId="1076"/>
      <pc:docMkLst>
        <pc:docMk/>
      </pc:docMkLst>
      <pc:sldChg chg="addSp delSp modSp mod modTransition">
        <pc:chgData name="Gauri Lad" userId="c2995238a12d181f" providerId="LiveId" clId="{D86B68B0-6638-4B59-AECC-9D92028E23DC}" dt="2025-08-13T05:32:04.476" v="78" actId="404"/>
        <pc:sldMkLst>
          <pc:docMk/>
          <pc:sldMk cId="548476299" sldId="534"/>
        </pc:sldMkLst>
      </pc:sldChg>
      <pc:sldChg chg="del modTransition">
        <pc:chgData name="Gauri Lad" userId="c2995238a12d181f" providerId="LiveId" clId="{D86B68B0-6638-4B59-AECC-9D92028E23DC}" dt="2025-08-13T05:46:07.494" v="149" actId="47"/>
        <pc:sldMkLst>
          <pc:docMk/>
          <pc:sldMk cId="1372651910" sldId="535"/>
        </pc:sldMkLst>
      </pc:sldChg>
      <pc:sldChg chg="del modTransition">
        <pc:chgData name="Gauri Lad" userId="c2995238a12d181f" providerId="LiveId" clId="{D86B68B0-6638-4B59-AECC-9D92028E23DC}" dt="2025-08-13T05:46:08.703" v="150" actId="47"/>
        <pc:sldMkLst>
          <pc:docMk/>
          <pc:sldMk cId="1208724409" sldId="536"/>
        </pc:sldMkLst>
      </pc:sldChg>
      <pc:sldChg chg="del modTransition">
        <pc:chgData name="Gauri Lad" userId="c2995238a12d181f" providerId="LiveId" clId="{D86B68B0-6638-4B59-AECC-9D92028E23DC}" dt="2025-08-13T05:46:09.383" v="151" actId="47"/>
        <pc:sldMkLst>
          <pc:docMk/>
          <pc:sldMk cId="1213210011" sldId="537"/>
        </pc:sldMkLst>
      </pc:sldChg>
      <pc:sldChg chg="del">
        <pc:chgData name="Gauri Lad" userId="c2995238a12d181f" providerId="LiveId" clId="{D86B68B0-6638-4B59-AECC-9D92028E23DC}" dt="2025-08-13T05:46:10.711" v="153" actId="47"/>
        <pc:sldMkLst>
          <pc:docMk/>
          <pc:sldMk cId="765210901" sldId="538"/>
        </pc:sldMkLst>
      </pc:sldChg>
      <pc:sldChg chg="del modTransition">
        <pc:chgData name="Gauri Lad" userId="c2995238a12d181f" providerId="LiveId" clId="{D86B68B0-6638-4B59-AECC-9D92028E23DC}" dt="2025-08-13T05:46:11.586" v="154" actId="47"/>
        <pc:sldMkLst>
          <pc:docMk/>
          <pc:sldMk cId="1877080978" sldId="539"/>
        </pc:sldMkLst>
      </pc:sldChg>
      <pc:sldChg chg="modSp mod">
        <pc:chgData name="Gauri Lad" userId="c2995238a12d181f" providerId="LiveId" clId="{D86B68B0-6638-4B59-AECC-9D92028E23DC}" dt="2025-07-22T05:41:04.068" v="11" actId="20577"/>
        <pc:sldMkLst>
          <pc:docMk/>
          <pc:sldMk cId="1877701230" sldId="544"/>
        </pc:sldMkLst>
      </pc:sldChg>
      <pc:sldChg chg="del modTransition">
        <pc:chgData name="Gauri Lad" userId="c2995238a12d181f" providerId="LiveId" clId="{D86B68B0-6638-4B59-AECC-9D92028E23DC}" dt="2025-08-13T05:46:10.025" v="152" actId="47"/>
        <pc:sldMkLst>
          <pc:docMk/>
          <pc:sldMk cId="1430138192" sldId="546"/>
        </pc:sldMkLst>
      </pc:sldChg>
      <pc:sldChg chg="del modTransition">
        <pc:chgData name="Gauri Lad" userId="c2995238a12d181f" providerId="LiveId" clId="{D86B68B0-6638-4B59-AECC-9D92028E23DC}" dt="2025-08-13T05:46:12.725" v="155" actId="47"/>
        <pc:sldMkLst>
          <pc:docMk/>
          <pc:sldMk cId="3483978780" sldId="547"/>
        </pc:sldMkLst>
      </pc:sldChg>
      <pc:sldChg chg="modSp mod modTransition">
        <pc:chgData name="Gauri Lad" userId="c2995238a12d181f" providerId="LiveId" clId="{D86B68B0-6638-4B59-AECC-9D92028E23DC}" dt="2025-08-13T05:45:56.135" v="148" actId="20577"/>
        <pc:sldMkLst>
          <pc:docMk/>
          <pc:sldMk cId="582855330" sldId="548"/>
        </pc:sldMkLst>
      </pc:sldChg>
      <pc:sldChg chg="addSp delSp modSp new mod modClrScheme chgLayout">
        <pc:chgData name="Gauri Lad" userId="c2995238a12d181f" providerId="LiveId" clId="{D86B68B0-6638-4B59-AECC-9D92028E23DC}" dt="2025-08-13T05:49:48.153" v="175" actId="1076"/>
        <pc:sldMkLst>
          <pc:docMk/>
          <pc:sldMk cId="3912977539" sldId="549"/>
        </pc:sldMkLst>
      </pc:sldChg>
      <pc:sldChg chg="addSp delSp modSp new mod modClrScheme chgLayout">
        <pc:chgData name="Gauri Lad" userId="c2995238a12d181f" providerId="LiveId" clId="{D86B68B0-6638-4B59-AECC-9D92028E23DC}" dt="2025-08-13T05:53:23.019" v="203" actId="1076"/>
        <pc:sldMkLst>
          <pc:docMk/>
          <pc:sldMk cId="4099886679" sldId="5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82DA94-6D7B-1180-7BFA-8E7DE9500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041" y="427154"/>
            <a:ext cx="9144000" cy="1785620"/>
          </a:xfrm>
        </p:spPr>
        <p:txBody>
          <a:bodyPr>
            <a:normAutofit/>
          </a:bodyPr>
          <a:lstStyle/>
          <a:p>
            <a:pPr algn="ctr">
              <a:spcBef>
                <a:spcPts val="295"/>
              </a:spcBef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SANJIVANI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</a:t>
            </a:r>
            <a:b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School</a:t>
            </a:r>
            <a:r>
              <a:rPr lang="en-US" sz="24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Engineering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&amp;</a:t>
            </a:r>
            <a:r>
              <a:rPr lang="en-US" sz="24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 (SET)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</a:t>
            </a:r>
            <a:b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ARTIFICIAL</a:t>
            </a:r>
            <a:r>
              <a:rPr lang="en-US" sz="16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INTELLIGENCE</a:t>
            </a:r>
            <a:r>
              <a:rPr lang="en-US" sz="16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&amp;</a:t>
            </a:r>
            <a:r>
              <a:rPr lang="en-US" sz="16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z="16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SCIENCE</a:t>
            </a:r>
            <a:r>
              <a:rPr lang="en-US" sz="1600" b="1" spc="-3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95BBAA6-0CEC-C3BB-E1EE-F82F1F88A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2826" y="2695776"/>
            <a:ext cx="9144000" cy="3735070"/>
          </a:xfrm>
        </p:spPr>
        <p:txBody>
          <a:bodyPr>
            <a:normAutofit fontScale="95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“Intelligent Sign Language Interpretation System Using Multi-Modal Deep Learning Architectures”</a:t>
            </a:r>
          </a:p>
          <a:p>
            <a:endParaRPr lang="en-US" sz="25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r>
              <a:rPr lang="en-US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Presented by</a:t>
            </a:r>
            <a:r>
              <a:rPr lang="en-US" sz="25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:</a:t>
            </a:r>
          </a:p>
          <a:p>
            <a:r>
              <a:rPr lang="en-US" sz="1900" spc="-3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Siddhi </a:t>
            </a:r>
            <a:r>
              <a:rPr lang="en-US" sz="1900" spc="-3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Gawali</a:t>
            </a:r>
            <a:r>
              <a:rPr lang="en-US" sz="1900" spc="-3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 (2124UDSF2059)</a:t>
            </a:r>
          </a:p>
          <a:p>
            <a:r>
              <a:rPr lang="en-US" sz="1900" spc="-3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Gauri</a:t>
            </a:r>
            <a:r>
              <a:rPr lang="en-US" sz="19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 Lad (2124UDSF2008)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marL="699770" marR="754380" algn="ctr">
              <a:spcBef>
                <a:spcPts val="720"/>
              </a:spcBef>
            </a:pPr>
            <a:r>
              <a:rPr lang="en-US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Under</a:t>
            </a:r>
            <a:r>
              <a:rPr lang="en-US" sz="25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Guidance</a:t>
            </a:r>
            <a:r>
              <a:rPr lang="en-US" sz="25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of:</a:t>
            </a:r>
            <a:endParaRPr lang="en-IN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algn="ctr">
              <a:spcBef>
                <a:spcPts val="50"/>
              </a:spcBef>
            </a:pPr>
            <a:r>
              <a:rPr lang="en-US" sz="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 </a:t>
            </a:r>
            <a:endParaRPr lang="en-IN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Prof. </a:t>
            </a:r>
            <a:r>
              <a:rPr lang="en-IN" sz="1700" dirty="0" err="1">
                <a:latin typeface="Times New Roman" pitchFamily="18" charset="0"/>
                <a:cs typeface="Times New Roman" pitchFamily="18" charset="0"/>
              </a:rPr>
              <a:t>Jeevesh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dirty="0" err="1">
                <a:latin typeface="Times New Roman" pitchFamily="18" charset="0"/>
                <a:cs typeface="Times New Roman" pitchFamily="18" charset="0"/>
              </a:rPr>
              <a:t>Upadhyay</a:t>
            </a:r>
            <a:endParaRPr lang="en-IN" sz="17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1.jpeg" descr="A logo with horses and a shield&#10;&#10;Description automatically generated">
            <a:extLst>
              <a:ext uri="{FF2B5EF4-FFF2-40B4-BE49-F238E27FC236}">
                <a16:creationId xmlns:a16="http://schemas.microsoft.com/office/drawing/2014/main" id="{A2A49BCF-AD0E-6776-58A0-30750A90FA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7367" y="427155"/>
            <a:ext cx="1676320" cy="140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BDFF48-0729-51B3-9180-0344ABE92D02}"/>
              </a:ext>
            </a:extLst>
          </p:cNvPr>
          <p:cNvSpPr txBox="1">
            <a:spLocks/>
          </p:cNvSpPr>
          <p:nvPr/>
        </p:nvSpPr>
        <p:spPr>
          <a:xfrm>
            <a:off x="545689" y="278535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IN" sz="40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+mn-ea"/>
              </a:rPr>
              <a:t>DATASET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3F8343-4E61-2D7A-A77A-AA651D84023A}"/>
              </a:ext>
            </a:extLst>
          </p:cNvPr>
          <p:cNvSpPr txBox="1">
            <a:spLocks/>
          </p:cNvSpPr>
          <p:nvPr/>
        </p:nvSpPr>
        <p:spPr>
          <a:xfrm>
            <a:off x="685166" y="1463040"/>
            <a:ext cx="10510500" cy="4168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ASL Alphabet Dataset (29 classes: A–Z, del, nothing, space)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~87,000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80% training, 20% validation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Resize: 224×224 pixels</a:t>
            </a:r>
          </a:p>
          <a:p>
            <a:pPr lvl="1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(mean/std scaling)</a:t>
            </a:r>
          </a:p>
          <a:p>
            <a:pPr lvl="1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 Rotation, flip, brightness adjustments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 dataset images.</a:t>
            </a:r>
          </a:p>
        </p:txBody>
      </p:sp>
    </p:spTree>
    <p:extLst>
      <p:ext uri="{BB962C8B-B14F-4D97-AF65-F5344CB8AC3E}">
        <p14:creationId xmlns:p14="http://schemas.microsoft.com/office/powerpoint/2010/main" val="58285533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F0D4F1-3DAE-FEF3-36AE-7A410143B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792" y="480568"/>
            <a:ext cx="10948416" cy="758952"/>
          </a:xfrm>
        </p:spPr>
        <p:txBody>
          <a:bodyPr/>
          <a:lstStyle/>
          <a:p>
            <a:pPr algn="l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1 (CNN)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3DBF7BF-92FA-7D60-D09F-D9E1DDDAF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760" y="1314704"/>
            <a:ext cx="8612632" cy="4466336"/>
          </a:xfrm>
        </p:spPr>
        <p:txBody>
          <a:bodyPr/>
          <a:lstStyle/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Convolution + 3 Fully Connected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Dropout 0.5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~2M trainable parameters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robust visual features from raw images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architecture diagram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97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0DADFE-0AE0-809E-4683-A8976FD44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56" y="412146"/>
            <a:ext cx="11125200" cy="836264"/>
          </a:xfrm>
        </p:spPr>
        <p:txBody>
          <a:bodyPr/>
          <a:lstStyle/>
          <a:p>
            <a:pPr algn="l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2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2B8A579-8DEC-A11D-71D0-F34B33440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6114" y="1554769"/>
            <a:ext cx="4194629" cy="4216146"/>
          </a:xfrm>
        </p:spPr>
        <p:txBody>
          <a:bodyPr/>
          <a:lstStyle/>
          <a:p>
            <a:pPr algn="just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ResNet-18 (Transfer Learning)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Pre-trained ResNet-18 on ImageNet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final FC layer → 29 outputs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Fine-tuning with frozen early layers for efficiency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 pretrained deep features for higher accuracy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graph.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7193D-282E-0E12-5A93-59952CCDF8A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191250"/>
            <a:ext cx="2332038" cy="2730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AutoShape 2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056999"/>
            <a:ext cx="7101568" cy="321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988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800" y="342900"/>
            <a:ext cx="9842500" cy="928116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Model Architecture 3 &amp; 4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5772" y="971804"/>
            <a:ext cx="4296228" cy="758952"/>
          </a:xfrm>
        </p:spPr>
        <p:txBody>
          <a:bodyPr/>
          <a:lstStyle/>
          <a:p>
            <a:pPr algn="l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Title: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Vision Transformer (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ViT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) &amp; Graph Neural Network (GNN)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Vision Transformer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ViT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):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Patches: 8×8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Encoder Layers: 3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Attention Heads: 4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Position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embeddings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classification token</a:t>
            </a:r>
          </a:p>
          <a:p>
            <a:pPr algn="l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Graph Neural Network (GNN):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Nodes: Image patches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Edges: Spatial adjacency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Layers: 3 GCN + global pooling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Node features: Color + position statistics</a:t>
            </a:r>
          </a:p>
          <a:p>
            <a:pPr algn="l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60" y="1998436"/>
            <a:ext cx="7331754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834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560513"/>
            <a:ext cx="801052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3"/>
          <p:cNvSpPr txBox="1">
            <a:spLocks/>
          </p:cNvSpPr>
          <p:nvPr/>
        </p:nvSpPr>
        <p:spPr>
          <a:xfrm>
            <a:off x="748792" y="254000"/>
            <a:ext cx="10135108" cy="8097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Times New Roman" pitchFamily="18" charset="0"/>
                <a:cs typeface="Times New Roman" pitchFamily="18" charset="0"/>
              </a:rPr>
              <a:t>GNn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training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70837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https://sdmntprwestcentralus.oaiusercontent.com/files/00000000-e8c0-61fb-b2e8-a1e96f1c73da/raw?se=2025-08-13T18%3A23%3A41Z&amp;sp=r&amp;sv=2024-08-04&amp;sr=b&amp;scid=348c527b-3940-510d-8f40-db5ab0840c4b&amp;skoid=add8ee7d-5fc7-451e-b06e-a82b2276cf62&amp;sktid=a48cca56-e6da-484e-a814-9c849652bcb3&amp;skt=2025-08-13T12%3A43%3A00Z&amp;ske=2025-08-14T12%3A43%3A00Z&amp;sks=b&amp;skv=2024-08-04&amp;sig=zh7CTW1Cg9Nw1h3/O7EERzBt0ze5iO%2BfieiW9UYD5iU%3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094" y="215900"/>
            <a:ext cx="5826125" cy="64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/>
          <p:cNvSpPr txBox="1">
            <a:spLocks/>
          </p:cNvSpPr>
          <p:nvPr/>
        </p:nvSpPr>
        <p:spPr>
          <a:xfrm>
            <a:off x="-2596952" y="2806699"/>
            <a:ext cx="10135108" cy="8097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FLOWCHART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6526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8792" y="254000"/>
            <a:ext cx="10135108" cy="809752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Model Training Pipeline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12292" y="1184148"/>
            <a:ext cx="8585708" cy="328269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Loading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Batch size: 32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Adam optimizer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0.001)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Validation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Cross-entropy loss monitoring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Early Stopping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Patience = 10 epochs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Model Saving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Best accuracy checkpoint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Visual: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Flowchart showing Training Loop: Load → Train → Validate → Save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05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-457200" y="190500"/>
            <a:ext cx="7519924" cy="825500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FUTURE WORK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224115" y="1503155"/>
            <a:ext cx="9660193" cy="4882896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Enhanced Model Training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Further optimize CNN, GNN,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architectures for higher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train and test accuracy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through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hyperparameter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tuning, regularization, and larger datasets.</a:t>
            </a:r>
          </a:p>
          <a:p>
            <a:pPr marL="342900" indent="-3429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Cross-Model Performance Comparison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Conduct detailed evaluation of all three models (CNN, GNN,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to identify the most effective approach for ASL recognition in terms of speed, accuracy, and generalization.</a:t>
            </a:r>
          </a:p>
          <a:p>
            <a:pPr marL="342900" indent="-3429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Finger Spelling Analysis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Extend the system to handle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continuous finger spelling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complex sequences, improving recognition of subtle hand shape variations.</a:t>
            </a:r>
          </a:p>
          <a:p>
            <a:pPr marL="342900" indent="-3429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Dataset Expansion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Incorporate real-world ASL video data and diverse lighting/angle conditions to improve robustness.</a:t>
            </a:r>
          </a:p>
          <a:p>
            <a:pPr marL="342900" indent="-3429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Real-Time Optimization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Reduce inference time for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real-time camera-based detection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without compromising accuracy.</a:t>
            </a:r>
          </a:p>
          <a:p>
            <a:pPr marL="342900" indent="-342900" algn="just">
              <a:lnSpc>
                <a:spcPct val="10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5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YOU!</a:t>
            </a:r>
            <a:endParaRPr lang="en-US" dirty="0"/>
          </a:p>
        </p:txBody>
      </p:sp>
      <p:pic>
        <p:nvPicPr>
          <p:cNvPr id="4" name="WhatsApp Video 2025-07-20 at 11.57.23 PM">
            <a:hlinkClick r:id="" action="ppaction://media"/>
            <a:extLst>
              <a:ext uri="{FF2B5EF4-FFF2-40B4-BE49-F238E27FC236}">
                <a16:creationId xmlns:a16="http://schemas.microsoft.com/office/drawing/2014/main" id="{032D0B9D-CDAD-12E8-DF4E-84FA01AE318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64594" y="3429000"/>
            <a:ext cx="4050890" cy="221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sharepoint/v3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542</TotalTime>
  <Words>468</Words>
  <Application>Microsoft Office PowerPoint</Application>
  <PresentationFormat>Widescreen</PresentationFormat>
  <Paragraphs>67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Segoe UI Light</vt:lpstr>
      <vt:lpstr>Times New Roman</vt:lpstr>
      <vt:lpstr>Tw Cen MT</vt:lpstr>
      <vt:lpstr>Office Theme</vt:lpstr>
      <vt:lpstr>SANJIVANI UNIVERSITY School of Engineering &amp; Technology (SET)  DEPARTMENT ARTIFICIAL INTELLIGENCE &amp; DATA SCIENCE </vt:lpstr>
      <vt:lpstr>PowerPoint Presentation</vt:lpstr>
      <vt:lpstr>Model Architecture 1 (CNN)</vt:lpstr>
      <vt:lpstr>Model Architecture 2</vt:lpstr>
      <vt:lpstr>Model Architecture 3 &amp; 4</vt:lpstr>
      <vt:lpstr>PowerPoint Presentation</vt:lpstr>
      <vt:lpstr>PowerPoint Presentation</vt:lpstr>
      <vt:lpstr>Model Training Pipeline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SANJIVANI UNIVERSITY School of Engineering &amp; Technology (SET)  DEPARTMENT ARTIFICIAL INTELLIGENCE &amp; DATA SCIENCE</dc:title>
  <dc:creator>Gauri Lad</dc:creator>
  <cp:lastModifiedBy>Gauri Lad</cp:lastModifiedBy>
  <cp:revision>6</cp:revision>
  <dcterms:created xsi:type="dcterms:W3CDTF">2025-07-22T04:52:20Z</dcterms:created>
  <dcterms:modified xsi:type="dcterms:W3CDTF">2025-09-15T08:17:45Z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